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45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40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901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51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37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92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03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52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85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62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19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3F51E-723A-4139-9FD3-3108DEAAE34F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30D3A-A208-4AC6-BC76-06D67AD39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231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React Router: Routing, Layouts &amp; Nested Outlets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Building Scalable &amp; High-Performance SPAs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278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Agenda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53143" y="2069864"/>
            <a:ext cx="6074228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Routing?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Router Basics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Configuration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Layouts &amp;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&lt;Outlet /&gt;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Nested Outlets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Lazy Loading Pages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Loader &amp; Suspense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Navbar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Routing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Advantages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Practices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88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Routing?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Routing is the mechanism to map URLs to pages/components in a web app.</a:t>
            </a:r>
          </a:p>
          <a:p>
            <a:r>
              <a:rPr lang="en-US" dirty="0" smtClean="0"/>
              <a:t>In SPAs (Single Page Applications):</a:t>
            </a:r>
          </a:p>
          <a:p>
            <a:r>
              <a:rPr lang="en-US" dirty="0" smtClean="0"/>
              <a:t>Only one HTML page is loaded</a:t>
            </a:r>
          </a:p>
          <a:p>
            <a:r>
              <a:rPr lang="en-US" dirty="0" smtClean="0"/>
              <a:t>React Router handles in-app navigation without full page refresh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91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React Router Basics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mtClean="0"/>
              <a:t>install</a:t>
            </a:r>
            <a:r>
              <a:rPr lang="en-IN" smtClean="0"/>
              <a:t>:  </a:t>
            </a:r>
            <a:r>
              <a:rPr lang="en-IN" dirty="0" err="1" smtClean="0"/>
              <a:t>npm</a:t>
            </a:r>
            <a:r>
              <a:rPr lang="en-IN" dirty="0" smtClean="0"/>
              <a:t> install react-router-</a:t>
            </a:r>
            <a:r>
              <a:rPr lang="en-IN" dirty="0" err="1" smtClean="0"/>
              <a:t>dom</a:t>
            </a:r>
            <a:endParaRPr lang="en-IN" dirty="0" smtClean="0"/>
          </a:p>
          <a:p>
            <a:r>
              <a:rPr lang="en-IN" dirty="0" smtClean="0"/>
              <a:t>Wrap app in &lt;</a:t>
            </a:r>
            <a:r>
              <a:rPr lang="en-IN" dirty="0" err="1" smtClean="0"/>
              <a:t>BrowserRouter</a:t>
            </a:r>
            <a:r>
              <a:rPr lang="en-IN" dirty="0" smtClean="0"/>
              <a:t>&gt;</a:t>
            </a:r>
          </a:p>
          <a:p>
            <a:endParaRPr lang="en-US" dirty="0"/>
          </a:p>
          <a:p>
            <a:r>
              <a:rPr lang="en-IN" dirty="0" smtClean="0"/>
              <a:t>import { </a:t>
            </a:r>
            <a:r>
              <a:rPr lang="en-IN" dirty="0" err="1" smtClean="0"/>
              <a:t>BrowserRouter</a:t>
            </a:r>
            <a:r>
              <a:rPr lang="en-IN" dirty="0" smtClean="0"/>
              <a:t> } from "react-router-</a:t>
            </a:r>
            <a:r>
              <a:rPr lang="en-IN" dirty="0" err="1" smtClean="0"/>
              <a:t>dom</a:t>
            </a:r>
            <a:r>
              <a:rPr lang="en-IN" dirty="0" smtClean="0"/>
              <a:t>";</a:t>
            </a:r>
            <a:br>
              <a:rPr lang="en-IN" dirty="0" smtClean="0"/>
            </a:br>
            <a:r>
              <a:rPr lang="en-IN" dirty="0" smtClean="0"/>
              <a:t>&lt;</a:t>
            </a:r>
            <a:r>
              <a:rPr lang="en-IN" dirty="0" err="1" smtClean="0"/>
              <a:t>BrowserRouter</a:t>
            </a:r>
            <a:r>
              <a:rPr lang="en-IN" dirty="0" smtClean="0"/>
              <a:t>&gt;</a:t>
            </a:r>
            <a:br>
              <a:rPr lang="en-IN" dirty="0" smtClean="0"/>
            </a:br>
            <a:r>
              <a:rPr lang="en-IN" dirty="0" smtClean="0"/>
              <a:t>&lt;App /&gt;</a:t>
            </a:r>
            <a:br>
              <a:rPr lang="en-IN" dirty="0" smtClean="0"/>
            </a:br>
            <a:r>
              <a:rPr lang="en-IN" dirty="0" smtClean="0"/>
              <a:t>&lt;/</a:t>
            </a:r>
            <a:r>
              <a:rPr lang="en-IN" dirty="0" err="1" smtClean="0"/>
              <a:t>BrowserRouter</a:t>
            </a:r>
            <a:r>
              <a:rPr lang="en-IN" dirty="0" smtClean="0"/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1272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Define routes inside &lt;Routes&gt; with &lt;Route&gt;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&lt;Routes&gt;</a:t>
            </a:r>
          </a:p>
          <a:p>
            <a:r>
              <a:rPr lang="en-US" dirty="0" smtClean="0"/>
              <a:t>  &lt;Route path="/" element={&lt;Home /&gt;} /&gt;</a:t>
            </a:r>
          </a:p>
          <a:p>
            <a:r>
              <a:rPr lang="en-US" dirty="0" smtClean="0"/>
              <a:t>  &lt;Route path="/about" element={&lt;About /&gt;} /&gt;</a:t>
            </a:r>
          </a:p>
          <a:p>
            <a:r>
              <a:rPr lang="en-US" dirty="0" smtClean="0"/>
              <a:t>&lt;/Routes&gt;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92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Route Configuration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path → URL</a:t>
            </a:r>
          </a:p>
          <a:p>
            <a:r>
              <a:rPr lang="en-US" dirty="0" smtClean="0"/>
              <a:t>element → component to render</a:t>
            </a:r>
          </a:p>
          <a:p>
            <a:endParaRPr lang="en-US" dirty="0"/>
          </a:p>
          <a:p>
            <a:r>
              <a:rPr lang="en-US" dirty="0" smtClean="0"/>
              <a:t>&lt;Route path="/employee" element={&lt;</a:t>
            </a:r>
            <a:r>
              <a:rPr lang="en-US" dirty="0" err="1" smtClean="0"/>
              <a:t>EmployeeList</a:t>
            </a:r>
            <a:r>
              <a:rPr lang="en-US" dirty="0" smtClean="0"/>
              <a:t> /&gt;} /&gt;</a:t>
            </a:r>
          </a:p>
          <a:p>
            <a:r>
              <a:rPr lang="en-US" dirty="0" smtClean="0"/>
              <a:t>&lt;Route path="/employee/:id" element={&lt;</a:t>
            </a:r>
            <a:r>
              <a:rPr lang="en-US" dirty="0" err="1" smtClean="0"/>
              <a:t>EmployeeForm</a:t>
            </a:r>
            <a:r>
              <a:rPr lang="en-US" dirty="0" smtClean="0"/>
              <a:t> /&gt;} /&gt;</a:t>
            </a:r>
          </a:p>
          <a:p>
            <a:endParaRPr lang="en-US" dirty="0"/>
          </a:p>
          <a:p>
            <a:r>
              <a:rPr lang="en-US" dirty="0" smtClean="0"/>
              <a:t>Supports dynamic parameters → :id</a:t>
            </a:r>
          </a:p>
          <a:p>
            <a:r>
              <a:rPr lang="en-US" dirty="0" smtClean="0"/>
              <a:t>Supports nested routes → child pages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4005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Layouts &amp; &lt;Outlet /&gt;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Layouts = </a:t>
            </a:r>
            <a:r>
              <a:rPr lang="en-US" dirty="0" err="1" smtClean="0"/>
              <a:t>Navbar</a:t>
            </a:r>
            <a:r>
              <a:rPr lang="en-US" dirty="0" smtClean="0"/>
              <a:t>, sidebar, footer that repeat across pages</a:t>
            </a:r>
          </a:p>
          <a:p>
            <a:r>
              <a:rPr lang="en-US" dirty="0" smtClean="0"/>
              <a:t>&lt;Outlet /&gt; = placeholder where child pages render</a:t>
            </a:r>
          </a:p>
          <a:p>
            <a:endParaRPr lang="en-US" dirty="0"/>
          </a:p>
          <a:p>
            <a:r>
              <a:rPr lang="en-US" dirty="0" smtClean="0"/>
              <a:t>function </a:t>
            </a:r>
            <a:r>
              <a:rPr lang="en-US" dirty="0" err="1" smtClean="0"/>
              <a:t>MainLayout</a:t>
            </a:r>
            <a:r>
              <a:rPr lang="en-US" dirty="0" smtClean="0"/>
              <a:t>() {</a:t>
            </a:r>
          </a:p>
          <a:p>
            <a:r>
              <a:rPr lang="en-US" dirty="0" smtClean="0"/>
              <a:t>  return (</a:t>
            </a:r>
          </a:p>
          <a:p>
            <a:r>
              <a:rPr lang="en-US" dirty="0" smtClean="0"/>
              <a:t>    &lt;&gt;</a:t>
            </a:r>
          </a:p>
          <a:p>
            <a:r>
              <a:rPr lang="en-US" dirty="0" smtClean="0"/>
              <a:t>      &lt;</a:t>
            </a:r>
            <a:r>
              <a:rPr lang="en-US" dirty="0" err="1" smtClean="0"/>
              <a:t>Navbar</a:t>
            </a:r>
            <a:r>
              <a:rPr lang="en-US" dirty="0" smtClean="0"/>
              <a:t> /&gt;</a:t>
            </a:r>
          </a:p>
          <a:p>
            <a:r>
              <a:rPr lang="en-US" dirty="0" smtClean="0"/>
              <a:t>      &lt;Outlet /&gt; {/* Child pages render here */}</a:t>
            </a:r>
          </a:p>
          <a:p>
            <a:r>
              <a:rPr lang="en-US" dirty="0" smtClean="0"/>
              <a:t>    &lt;/&gt;</a:t>
            </a:r>
          </a:p>
          <a:p>
            <a:r>
              <a:rPr lang="en-US" dirty="0" smtClean="0"/>
              <a:t>  );</a:t>
            </a:r>
          </a:p>
          <a:p>
            <a:r>
              <a:rPr lang="en-US" dirty="0" smtClean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239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Example: Single Outlet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&lt;Routes&gt;</a:t>
            </a:r>
          </a:p>
          <a:p>
            <a:r>
              <a:rPr lang="en-IN" dirty="0" smtClean="0"/>
              <a:t>  &lt;Route path="/" element={&lt;</a:t>
            </a:r>
            <a:r>
              <a:rPr lang="en-IN" dirty="0" err="1" smtClean="0"/>
              <a:t>MainLayout</a:t>
            </a:r>
            <a:r>
              <a:rPr lang="en-IN" dirty="0" smtClean="0"/>
              <a:t> /&gt;}&gt;</a:t>
            </a:r>
          </a:p>
          <a:p>
            <a:r>
              <a:rPr lang="en-IN" dirty="0" smtClean="0"/>
              <a:t>    &lt;Route index element={&lt;Home /&gt;} /&gt;</a:t>
            </a:r>
          </a:p>
          <a:p>
            <a:r>
              <a:rPr lang="en-IN" dirty="0" smtClean="0"/>
              <a:t>    &lt;Route path="employee" element={&lt;</a:t>
            </a:r>
            <a:r>
              <a:rPr lang="en-IN" dirty="0" err="1" smtClean="0"/>
              <a:t>EmployeeList</a:t>
            </a:r>
            <a:r>
              <a:rPr lang="en-IN" dirty="0" smtClean="0"/>
              <a:t> /&gt;} /&gt;</a:t>
            </a:r>
          </a:p>
          <a:p>
            <a:r>
              <a:rPr lang="en-IN" dirty="0" smtClean="0"/>
              <a:t>  &lt;/Route&gt;</a:t>
            </a:r>
          </a:p>
          <a:p>
            <a:r>
              <a:rPr lang="en-IN" dirty="0" smtClean="0"/>
              <a:t>&lt;/Routes&gt;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339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Nested Outlets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Nested outlets = &lt;Outlet /&gt; inside a child layout</a:t>
            </a:r>
          </a:p>
          <a:p>
            <a:r>
              <a:rPr lang="en-US" dirty="0" smtClean="0"/>
              <a:t>Example: Employee section has its own layout</a:t>
            </a:r>
          </a:p>
          <a:p>
            <a:endParaRPr lang="en-US" dirty="0"/>
          </a:p>
          <a:p>
            <a:r>
              <a:rPr lang="en-IN" dirty="0" err="1" smtClean="0"/>
              <a:t>MainLayout</a:t>
            </a:r>
            <a:endParaRPr lang="en-IN" dirty="0" smtClean="0"/>
          </a:p>
          <a:p>
            <a:r>
              <a:rPr lang="en-IN" dirty="0" smtClean="0"/>
              <a:t> └─ </a:t>
            </a:r>
            <a:r>
              <a:rPr lang="en-IN" dirty="0" err="1" smtClean="0"/>
              <a:t>EmployeeLayout</a:t>
            </a:r>
            <a:endParaRPr lang="en-IN" dirty="0" smtClean="0"/>
          </a:p>
          <a:p>
            <a:r>
              <a:rPr lang="en-IN" dirty="0" smtClean="0"/>
              <a:t>      └─ </a:t>
            </a:r>
            <a:r>
              <a:rPr lang="en-IN" dirty="0" err="1" smtClean="0"/>
              <a:t>EmployeeList</a:t>
            </a:r>
            <a:r>
              <a:rPr lang="en-IN" dirty="0" smtClean="0"/>
              <a:t> / </a:t>
            </a:r>
            <a:r>
              <a:rPr lang="en-IN" dirty="0" err="1" smtClean="0"/>
              <a:t>EmployeeForm</a:t>
            </a:r>
            <a:endParaRPr lang="en-IN" dirty="0" smtClean="0"/>
          </a:p>
          <a:p>
            <a:endParaRPr lang="en-US" dirty="0"/>
          </a:p>
          <a:p>
            <a:r>
              <a:rPr lang="en-US" dirty="0" smtClean="0"/>
              <a:t>employee → </a:t>
            </a:r>
            <a:r>
              <a:rPr lang="en-US" dirty="0" err="1" smtClean="0"/>
              <a:t>EmployeeLayout</a:t>
            </a:r>
            <a:r>
              <a:rPr lang="en-US" dirty="0" smtClean="0"/>
              <a:t> header + </a:t>
            </a:r>
            <a:r>
              <a:rPr lang="en-US" dirty="0" err="1" smtClean="0"/>
              <a:t>EmployeeList</a:t>
            </a:r>
            <a:endParaRPr lang="en-US" dirty="0" smtClean="0"/>
          </a:p>
          <a:p>
            <a:r>
              <a:rPr lang="en-US" dirty="0" smtClean="0"/>
              <a:t>/employee/add → </a:t>
            </a:r>
            <a:r>
              <a:rPr lang="en-US" dirty="0" err="1" smtClean="0"/>
              <a:t>EmployeeLayout</a:t>
            </a:r>
            <a:r>
              <a:rPr lang="en-US" dirty="0" smtClean="0"/>
              <a:t> header + </a:t>
            </a:r>
            <a:r>
              <a:rPr lang="en-US" dirty="0" err="1" smtClean="0"/>
              <a:t>EmployeeForm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316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Lazy Loading Pages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Load components only when needed</a:t>
            </a:r>
          </a:p>
          <a:p>
            <a:r>
              <a:rPr lang="en-US" dirty="0" smtClean="0"/>
              <a:t>Use </a:t>
            </a:r>
            <a:r>
              <a:rPr lang="en-US" dirty="0" err="1" smtClean="0"/>
              <a:t>React.lazy</a:t>
            </a:r>
            <a:r>
              <a:rPr lang="en-US" dirty="0" smtClean="0"/>
              <a:t> + &lt;Suspense&gt;</a:t>
            </a:r>
          </a:p>
          <a:p>
            <a:endParaRPr lang="en-US" dirty="0"/>
          </a:p>
          <a:p>
            <a:r>
              <a:rPr lang="en-IN" dirty="0" err="1" smtClean="0"/>
              <a:t>const</a:t>
            </a:r>
            <a:r>
              <a:rPr lang="en-IN" dirty="0" smtClean="0"/>
              <a:t> </a:t>
            </a:r>
            <a:r>
              <a:rPr lang="en-IN" dirty="0" err="1" smtClean="0"/>
              <a:t>EmployeeList</a:t>
            </a:r>
            <a:r>
              <a:rPr lang="en-IN" dirty="0" smtClean="0"/>
              <a:t> = lazy(() =&gt; import('./pages/</a:t>
            </a:r>
            <a:r>
              <a:rPr lang="en-IN" dirty="0" err="1" smtClean="0"/>
              <a:t>EmployeeList</a:t>
            </a:r>
            <a:r>
              <a:rPr lang="en-IN" dirty="0" smtClean="0"/>
              <a:t>'));</a:t>
            </a:r>
          </a:p>
          <a:p>
            <a:r>
              <a:rPr lang="en-IN" dirty="0" smtClean="0"/>
              <a:t>&lt;Suspense </a:t>
            </a:r>
            <a:r>
              <a:rPr lang="en-IN" dirty="0" err="1" smtClean="0"/>
              <a:t>fallback</a:t>
            </a:r>
            <a:r>
              <a:rPr lang="en-IN" dirty="0" smtClean="0"/>
              <a:t>={&lt;Loader /&gt;}&gt;</a:t>
            </a:r>
          </a:p>
          <a:p>
            <a:r>
              <a:rPr lang="en-IN" dirty="0" smtClean="0"/>
              <a:t>  &lt;Outlet /&gt;</a:t>
            </a:r>
          </a:p>
          <a:p>
            <a:r>
              <a:rPr lang="en-IN" dirty="0" smtClean="0"/>
              <a:t>&lt;/Suspense&gt;</a:t>
            </a:r>
          </a:p>
          <a:p>
            <a:r>
              <a:rPr lang="en-US" dirty="0" smtClean="0"/>
              <a:t>Reduces initial bundle size</a:t>
            </a:r>
          </a:p>
          <a:p>
            <a:r>
              <a:rPr lang="en-US" dirty="0" smtClean="0"/>
              <a:t>Only visited pages fetch JS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914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Loader &amp; Suspense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&lt;Suspense&gt; fallback shows while lazy component loads</a:t>
            </a:r>
          </a:p>
          <a:p>
            <a:r>
              <a:rPr lang="en-US" dirty="0" smtClean="0"/>
              <a:t>Replace text fallback with MUI Loader</a:t>
            </a:r>
          </a:p>
          <a:p>
            <a:endParaRPr lang="en-US" dirty="0"/>
          </a:p>
          <a:p>
            <a:r>
              <a:rPr lang="en-US" dirty="0" smtClean="0"/>
              <a:t>&lt;Suspense fallback={&lt;</a:t>
            </a:r>
            <a:r>
              <a:rPr lang="en-US" dirty="0" err="1" smtClean="0"/>
              <a:t>CircularProgress</a:t>
            </a:r>
            <a:r>
              <a:rPr lang="en-US" dirty="0" smtClean="0"/>
              <a:t> /&gt;}&gt;</a:t>
            </a:r>
          </a:p>
          <a:p>
            <a:r>
              <a:rPr lang="en-US" dirty="0" smtClean="0"/>
              <a:t>  &lt;Outlet /&gt;</a:t>
            </a:r>
          </a:p>
          <a:p>
            <a:r>
              <a:rPr lang="en-US" dirty="0" smtClean="0"/>
              <a:t>&lt;/Suspense&gt;</a:t>
            </a:r>
          </a:p>
          <a:p>
            <a:endParaRPr lang="en-US" dirty="0"/>
          </a:p>
          <a:p>
            <a:r>
              <a:rPr lang="en-US" dirty="0" smtClean="0"/>
              <a:t>Can also use </a:t>
            </a:r>
            <a:r>
              <a:rPr lang="en-US" dirty="0" err="1" smtClean="0"/>
              <a:t>LinearProgress</a:t>
            </a:r>
            <a:r>
              <a:rPr lang="en-US" dirty="0" smtClean="0"/>
              <a:t> or custom spinner</a:t>
            </a:r>
          </a:p>
          <a:p>
            <a:r>
              <a:rPr lang="en-US" dirty="0" smtClean="0"/>
              <a:t>Works for nested routes independently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77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Navbar</a:t>
            </a:r>
            <a:r>
              <a:rPr lang="en-IN" dirty="0" smtClean="0"/>
              <a:t> &amp; Routing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Display name ≠ route path</a:t>
            </a:r>
          </a:p>
          <a:p>
            <a:endParaRPr lang="en-US" dirty="0"/>
          </a:p>
          <a:p>
            <a:r>
              <a:rPr lang="en-IN" dirty="0" err="1" smtClean="0"/>
              <a:t>const</a:t>
            </a:r>
            <a:r>
              <a:rPr lang="en-IN" dirty="0" smtClean="0"/>
              <a:t> pages = [</a:t>
            </a:r>
          </a:p>
          <a:p>
            <a:r>
              <a:rPr lang="en-IN" dirty="0" smtClean="0"/>
              <a:t>  { name: "Employees", path: "/employee" },</a:t>
            </a:r>
          </a:p>
          <a:p>
            <a:r>
              <a:rPr lang="en-IN" dirty="0" smtClean="0"/>
              <a:t>  { name: "Admin", path: "/admin/dashboard" }</a:t>
            </a:r>
          </a:p>
          <a:p>
            <a:r>
              <a:rPr lang="en-IN" dirty="0" smtClean="0"/>
              <a:t>];</a:t>
            </a:r>
          </a:p>
          <a:p>
            <a:endParaRPr lang="en-IN" dirty="0" smtClean="0"/>
          </a:p>
          <a:p>
            <a:r>
              <a:rPr lang="en-IN" dirty="0" smtClean="0"/>
              <a:t>&lt;Button component={Link} to={</a:t>
            </a:r>
            <a:r>
              <a:rPr lang="en-IN" dirty="0" err="1" smtClean="0"/>
              <a:t>page.path</a:t>
            </a:r>
            <a:r>
              <a:rPr lang="en-IN" dirty="0" smtClean="0"/>
              <a:t>}&gt;{page.name}&lt;/Button&gt;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378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SPA Navigation &amp; Lazy Loading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6654624"/>
              </p:ext>
            </p:extLst>
          </p:nvPr>
        </p:nvGraphicFramePr>
        <p:xfrm>
          <a:off x="640080" y="1815738"/>
          <a:ext cx="10713720" cy="3054236"/>
        </p:xfrm>
        <a:graphic>
          <a:graphicData uri="http://schemas.openxmlformats.org/drawingml/2006/table">
            <a:tbl>
              <a:tblPr/>
              <a:tblGrid>
                <a:gridCol w="5356860">
                  <a:extLst>
                    <a:ext uri="{9D8B030D-6E8A-4147-A177-3AD203B41FA5}">
                      <a16:colId xmlns:a16="http://schemas.microsoft.com/office/drawing/2014/main" val="3509308516"/>
                    </a:ext>
                  </a:extLst>
                </a:gridCol>
                <a:gridCol w="5356860">
                  <a:extLst>
                    <a:ext uri="{9D8B030D-6E8A-4147-A177-3AD203B41FA5}">
                      <a16:colId xmlns:a16="http://schemas.microsoft.com/office/drawing/2014/main" val="3169613061"/>
                    </a:ext>
                  </a:extLst>
                </a:gridCol>
              </a:tblGrid>
              <a:tr h="642997">
                <a:tc>
                  <a:txBody>
                    <a:bodyPr/>
                    <a:lstStyle/>
                    <a:p>
                      <a:r>
                        <a:rPr lang="en-IN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978903"/>
                  </a:ext>
                </a:extLst>
              </a:tr>
              <a:tr h="642997">
                <a:tc>
                  <a:txBody>
                    <a:bodyPr/>
                    <a:lstStyle/>
                    <a:p>
                      <a:r>
                        <a:rPr lang="en-IN"/>
                        <a:t>SPA navigation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Lazy page loads once → cached in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079254"/>
                  </a:ext>
                </a:extLst>
              </a:tr>
              <a:tr h="642997">
                <a:tc>
                  <a:txBody>
                    <a:bodyPr/>
                    <a:lstStyle/>
                    <a:p>
                      <a:r>
                        <a:rPr lang="en-IN"/>
                        <a:t>Browser 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Lazy page loads again (fallback shows)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181875"/>
                  </a:ext>
                </a:extLst>
              </a:tr>
              <a:tr h="1125245">
                <a:tc>
                  <a:txBody>
                    <a:bodyPr/>
                    <a:lstStyle/>
                    <a:p>
                      <a:r>
                        <a:rPr lang="en-IN"/>
                        <a:t>Nested outlet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child page lazy loads → parent layouts stay rendered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16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254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Performance Advantages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Reusable layouts → fewer re-renders</a:t>
            </a:r>
          </a:p>
          <a:p>
            <a:r>
              <a:rPr lang="en-IN" dirty="0" smtClean="0"/>
              <a:t>Lazy loading → smaller initial bundle</a:t>
            </a:r>
          </a:p>
          <a:p>
            <a:r>
              <a:rPr lang="en-IN" dirty="0" smtClean="0"/>
              <a:t>Nested layouts → section-specific layouts</a:t>
            </a:r>
          </a:p>
          <a:p>
            <a:r>
              <a:rPr lang="en-IN" dirty="0" smtClean="0"/>
              <a:t>SPA navigation → fast transitions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843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Best Practices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Separate layouts &amp; pages</a:t>
            </a:r>
          </a:p>
          <a:p>
            <a:r>
              <a:rPr lang="en-IN" dirty="0" smtClean="0"/>
              <a:t>Use &lt;Outlet /&gt; for child routes</a:t>
            </a:r>
          </a:p>
          <a:p>
            <a:r>
              <a:rPr lang="en-IN" dirty="0" smtClean="0"/>
              <a:t>Lazy-load pages, not layouts</a:t>
            </a:r>
          </a:p>
          <a:p>
            <a:r>
              <a:rPr lang="en-IN" dirty="0" smtClean="0"/>
              <a:t>Keep SPA navigation smooth → layouts stay in memory</a:t>
            </a:r>
          </a:p>
          <a:p>
            <a:r>
              <a:rPr lang="en-IN" dirty="0" smtClean="0"/>
              <a:t>Use Loader / Suspense for better UX</a:t>
            </a:r>
          </a:p>
          <a:p>
            <a:r>
              <a:rPr lang="en-IN" dirty="0" smtClean="0"/>
              <a:t>Display name ≠ route path → flexibility</a:t>
            </a:r>
          </a:p>
          <a:p>
            <a:r>
              <a:rPr lang="en-IN" smtClean="0"/>
              <a:t>Nested layouts for section-specific headers/sidebars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596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579</Words>
  <Application>Microsoft Office PowerPoint</Application>
  <PresentationFormat>Widescreen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Unicode MS</vt:lpstr>
      <vt:lpstr>Calibri</vt:lpstr>
      <vt:lpstr>Calibri Light</vt:lpstr>
      <vt:lpstr>Office Theme</vt:lpstr>
      <vt:lpstr>React Router: Routing, Layouts &amp; Nested Outlets</vt:lpstr>
      <vt:lpstr>Agenda</vt:lpstr>
      <vt:lpstr>What is Routing?</vt:lpstr>
      <vt:lpstr>React Router Basics</vt:lpstr>
      <vt:lpstr>Define routes inside &lt;Routes&gt; with &lt;Route&gt;</vt:lpstr>
      <vt:lpstr>Route Configuration</vt:lpstr>
      <vt:lpstr>Layouts &amp; &lt;Outlet /&gt;</vt:lpstr>
      <vt:lpstr>Example: Single Outlet</vt:lpstr>
      <vt:lpstr>Nested Outlets</vt:lpstr>
      <vt:lpstr>Lazy Loading Pages</vt:lpstr>
      <vt:lpstr>Loader &amp; Suspense</vt:lpstr>
      <vt:lpstr>Navbar &amp; Routing</vt:lpstr>
      <vt:lpstr>SPA Navigation &amp; Lazy Loading</vt:lpstr>
      <vt:lpstr>Performance Advantages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Router: Routing, Layouts &amp; Nested Outlets</dc:title>
  <dc:creator>ALBIN XAVIER</dc:creator>
  <cp:lastModifiedBy>ALBIN XAVIER</cp:lastModifiedBy>
  <cp:revision>26</cp:revision>
  <dcterms:created xsi:type="dcterms:W3CDTF">2026-03-24T17:00:49Z</dcterms:created>
  <dcterms:modified xsi:type="dcterms:W3CDTF">2026-03-25T03:35:58Z</dcterms:modified>
</cp:coreProperties>
</file>